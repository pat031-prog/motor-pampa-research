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e227a968674f5f" /><Relationship Type="http://schemas.openxmlformats.org/officeDocument/2006/relationships/extended-properties" Target="/docProps/app.xml" Id="R72978f9f6f024e54" /><Relationship Type="http://schemas.openxmlformats.org/officeDocument/2006/relationships/officeDocument" Target="/ppt/presentation.xml" Id="Red18f4cbd7cc40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fabd25a9d74f20"/>
  </p:sldMasterIdLst>
  <p:notesMasterIdLst>
    <p:notesMasterId xmlns:r="http://schemas.openxmlformats.org/officeDocument/2006/relationships" r:id="R956a9163603d4731"/>
  </p:notesMasterIdLst>
  <p:sldIdLst>
    <p:sldId xmlns:r="http://schemas.openxmlformats.org/officeDocument/2006/relationships" id="256" r:id="R2c3e899461b141cc"/>
    <p:sldId xmlns:r="http://schemas.openxmlformats.org/officeDocument/2006/relationships" id="257" r:id="Raacea5e55cd24364"/>
    <p:sldId xmlns:r="http://schemas.openxmlformats.org/officeDocument/2006/relationships" id="258" r:id="Ra89717ca6d874b5c"/>
    <p:sldId xmlns:r="http://schemas.openxmlformats.org/officeDocument/2006/relationships" id="259" r:id="R773bf9ccdd094ce1"/>
    <p:sldId xmlns:r="http://schemas.openxmlformats.org/officeDocument/2006/relationships" id="260" r:id="R4aaf0004251d4675"/>
    <p:sldId xmlns:r="http://schemas.openxmlformats.org/officeDocument/2006/relationships" id="261" r:id="R8fbf9ded7b204d8d"/>
    <p:sldId xmlns:r="http://schemas.openxmlformats.org/officeDocument/2006/relationships" id="262" r:id="R04ebcc1eb4324016"/>
    <p:sldId xmlns:r="http://schemas.openxmlformats.org/officeDocument/2006/relationships" id="263" r:id="R50507d88cc8b416a"/>
    <p:sldId xmlns:r="http://schemas.openxmlformats.org/officeDocument/2006/relationships" id="264" r:id="R4bcdff7ba76f4c97"/>
    <p:sldId xmlns:r="http://schemas.openxmlformats.org/officeDocument/2006/relationships" id="265" r:id="R2cc97e88c9a24809"/>
    <p:sldId xmlns:r="http://schemas.openxmlformats.org/officeDocument/2006/relationships" id="266" r:id="R1b9bbd2583fb4a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ad0862bf5a4137" /><Relationship Type="http://schemas.openxmlformats.org/officeDocument/2006/relationships/slideMaster" Target="/ppt/slideMasters/slideMaster1.xml" Id="R93fabd25a9d74f20" /><Relationship Type="http://schemas.openxmlformats.org/officeDocument/2006/relationships/notesMaster" Target="/ppt/notesMasters/notesMaster1.xml" Id="R956a9163603d4731" /><Relationship Type="http://schemas.openxmlformats.org/officeDocument/2006/relationships/presProps" Target="/ppt/presProps.xml" Id="Rd047adae73f64620" /><Relationship Type="http://schemas.openxmlformats.org/officeDocument/2006/relationships/tableStyles" Target="/ppt/tableStyles.xml" Id="R08a8fc7415bb4cb9" /><Relationship Type="http://schemas.openxmlformats.org/officeDocument/2006/relationships/slide" Target="/ppt/slides/slide1.xml" Id="R2c3e899461b141cc" /><Relationship Type="http://schemas.openxmlformats.org/officeDocument/2006/relationships/slide" Target="/ppt/slides/slide2.xml" Id="Raacea5e55cd24364" /><Relationship Type="http://schemas.openxmlformats.org/officeDocument/2006/relationships/slide" Target="/ppt/slides/slide3.xml" Id="Ra89717ca6d874b5c" /><Relationship Type="http://schemas.openxmlformats.org/officeDocument/2006/relationships/slide" Target="/ppt/slides/slide4.xml" Id="R773bf9ccdd094ce1" /><Relationship Type="http://schemas.openxmlformats.org/officeDocument/2006/relationships/slide" Target="/ppt/slides/slide5.xml" Id="R4aaf0004251d4675" /><Relationship Type="http://schemas.openxmlformats.org/officeDocument/2006/relationships/slide" Target="/ppt/slides/slide6.xml" Id="R8fbf9ded7b204d8d" /><Relationship Type="http://schemas.openxmlformats.org/officeDocument/2006/relationships/slide" Target="/ppt/slides/slide7.xml" Id="R04ebcc1eb4324016" /><Relationship Type="http://schemas.openxmlformats.org/officeDocument/2006/relationships/slide" Target="/ppt/slides/slide8.xml" Id="R50507d88cc8b416a" /><Relationship Type="http://schemas.openxmlformats.org/officeDocument/2006/relationships/slide" Target="/ppt/slides/slide9.xml" Id="R4bcdff7ba76f4c97" /><Relationship Type="http://schemas.openxmlformats.org/officeDocument/2006/relationships/slide" Target="/ppt/slides/slide10.xml" Id="R2cc97e88c9a24809" /><Relationship Type="http://schemas.openxmlformats.org/officeDocument/2006/relationships/slide" Target="/ppt/slides/slide11.xml" Id="R1b9bbd2583fb4a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668b9c5e4247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e8d98394ee46a8" /><Relationship Type="http://schemas.openxmlformats.org/officeDocument/2006/relationships/notesMaster" Target="/ppt/notesMasters/notesMaster1.xml" Id="R41b2fc8d329d4a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cbc7a069b84f86" /><Relationship Type="http://schemas.openxmlformats.org/officeDocument/2006/relationships/notesMaster" Target="/ppt/notesMasters/notesMaster1.xml" Id="R5c06483dbd7f46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1fe4d58a4f4f72" /><Relationship Type="http://schemas.openxmlformats.org/officeDocument/2006/relationships/notesMaster" Target="/ppt/notesMasters/notesMaster1.xml" Id="R68df5fa331b842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56efcb409a481d" /><Relationship Type="http://schemas.openxmlformats.org/officeDocument/2006/relationships/notesMaster" Target="/ppt/notesMasters/notesMaster1.xml" Id="Rceef2a94102449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d959dea2b54eaf" /><Relationship Type="http://schemas.openxmlformats.org/officeDocument/2006/relationships/notesMaster" Target="/ppt/notesMasters/notesMaster1.xml" Id="R1848f056bd3743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628f6a4e0142a6" /><Relationship Type="http://schemas.openxmlformats.org/officeDocument/2006/relationships/notesMaster" Target="/ppt/notesMasters/notesMaster1.xml" Id="Rdadff369fa9b43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079f5f5fe34513" /><Relationship Type="http://schemas.openxmlformats.org/officeDocument/2006/relationships/notesMaster" Target="/ppt/notesMasters/notesMaster1.xml" Id="R881154b0c20b4b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c5dee573d74671" /><Relationship Type="http://schemas.openxmlformats.org/officeDocument/2006/relationships/notesMaster" Target="/ppt/notesMasters/notesMaster1.xml" Id="R39d6854093e44d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99769730764a6d" /><Relationship Type="http://schemas.openxmlformats.org/officeDocument/2006/relationships/notesMaster" Target="/ppt/notesMasters/notesMaster1.xml" Id="Rc3969bc0d2d9467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c65a7e5f1d4c95" /><Relationship Type="http://schemas.openxmlformats.org/officeDocument/2006/relationships/notesMaster" Target="/ppt/notesMasters/notesMaster1.xml" Id="Rf3ecac6cf4fb4a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3bfa3410eb47b7" /><Relationship Type="http://schemas.openxmlformats.org/officeDocument/2006/relationships/notesMaster" Target="/ppt/notesMasters/notesMaster1.xml" Id="Rb7e381d646f145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Portada institucional. Identidad basada en el sistema visual Motor Pampa suministrado por el titular.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problema comercial se define como trazabilidad y decisión, no como volumen de scraping.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producto mínimo conserva una ruta de auditoría entre pregunta, fuente, afirmación y entrega.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Método completo: metodologia/METODO.md en el repositorio público.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grado se asigna por afirmación. La confianza analítica se informa por separado.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Investigación pública: investigaciones/suicidios.md. Serie DEIS 2005–2024 con denominadores INDEC. Se calculan tasas, cambios, sensibilidad CIE-10 X60–X84 frente a Y10–Y34 y otros indicadores propios. DEIS, SNIC, SNVS y MPA tienen unidades y dependencias distintas; no se suman ni se tratan automáticamente como mediciones independientes. No se publican datos personales ni métodos de suicidio.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Investigación pública: investigaciones/cannava.md. El corpus preservado incluye el convenio Cannava–PNTV de 2018, exhibits SEC, SPA regulatorio CSE y boletines de Jujuy. Los documentos permiten reconstruir dos corredores contractuales y la estructura BBV Labs–SATIN–Blueberries; falta el instrumento público que pruebe la transferencia o unión jurídica entre esas rutas. Los hashes documentan integridad local, no fecha oponible a terceros.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Caso público: investigaciones/observatorio-cannis.md. Corte 21-22/06/2026. Los 360 reclamos eran un proxy institucional amplio. De 281 candidatos se recuperó el objeto de 140; cero confirmados en lo recuperado no significa cero en el universo. Una cifra previa se originaba en una rutina simulada y fue retirada. Fuentes primarias: datasets AAIP, Presupuesto Abierto y decretos publicados en Boletín Oficial.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Los cuatro recuadros son pilotos con alcance y precio orientativo. Auditoría adversarial de informes y análisis técnico-probatorio son proyectos a medida. Ver comercial/PILOTOS.md y comercial/SERVICIOS.md. Un informe técnico puede servir a una revisión jurídica o pericial, pero no equivale a pericia judicial ni garantiza admisibilidad.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Mapa completo: comercial/mapa_compradores.csv. Fecha de verificación 2026-09-22.</a:t>
            </a:r>
          </a:p>
          <a:p xmlns:a="http://schemas.openxmlformats.org/drawingml/2006/main">
            <a:r>
              <a:t>Fuentes: IECS https://iecs.org.ar/autoridades-y-comision-directiva/</a:t>
            </a:r>
          </a:p>
          <a:p xmlns:a="http://schemas.openxmlformats.org/drawingml/2006/main">
            <a:r>
              <a:t>PBA Salud https://www.gba.gob.ar/saludprovincia/noticias/se_firm%C3%B3_un_convenio_para_consolidar_y_unificar_las_estad%C3%ADsticas_sobre</a:t>
            </a:r>
          </a:p>
          <a:p xmlns:a="http://schemas.openxmlformats.org/drawingml/2006/main">
            <a:r>
              <a:t>BID https://www.iadb.org/en/how-we-can-work-together/procurement/corporate-procurement</a:t>
            </a:r>
          </a:p>
          <a:p xmlns:a="http://schemas.openxmlformats.org/drawingml/2006/main">
            <a:r>
              <a:t>CLIP https://www.elclip.org/nos-faltas-tu/</a:t>
            </a:r>
          </a:p>
          <a:p xmlns:a="http://schemas.openxmlformats.org/drawingml/2006/main">
            <a:r>
              <a:t>Pulitzer Center https://pulitzercenter.org/transparency-governance-reporting-grants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Cierre. Proponer un piloto antes de discutir un contrato amplio.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46e254937449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3ed7d84cfe4c01" /><Relationship Type="http://schemas.openxmlformats.org/officeDocument/2006/relationships/slideLayout" Target="/ppt/slideLayouts/slideLayout1.xml" Id="Rf466601c65af40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66601c65af40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22f32faa2447e8" /><Relationship Type="http://schemas.openxmlformats.org/officeDocument/2006/relationships/notesSlide" Target="/ppt/notesSlides/notesSlide1.xml" Id="Rea6fcb298e9b46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2f69772db4508" /><Relationship Type="http://schemas.openxmlformats.org/officeDocument/2006/relationships/notesSlide" Target="/ppt/notesSlides/notesSlide2.xml" Id="R8c00100257bf4d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7f232a094433a" /><Relationship Type="http://schemas.openxmlformats.org/officeDocument/2006/relationships/notesSlide" Target="/ppt/notesSlides/notesSlide3.xml" Id="Ra852117eb67f45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37141dc604db8" /><Relationship Type="http://schemas.openxmlformats.org/officeDocument/2006/relationships/notesSlide" Target="/ppt/notesSlides/notesSlide4.xml" Id="Rf01d243d104f4f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51fd4fdc1430c" /><Relationship Type="http://schemas.openxmlformats.org/officeDocument/2006/relationships/notesSlide" Target="/ppt/notesSlides/notesSlide5.xml" Id="R1a9a243b9ab64d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8fcd970484810" /><Relationship Type="http://schemas.openxmlformats.org/officeDocument/2006/relationships/notesSlide" Target="/ppt/notesSlides/notesSlide6.xml" Id="R632a931911504fd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f0289957b4346" /><Relationship Type="http://schemas.openxmlformats.org/officeDocument/2006/relationships/notesSlide" Target="/ppt/notesSlides/notesSlide7.xml" Id="Re23d36007db744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cecf29b7541d7" /><Relationship Type="http://schemas.openxmlformats.org/officeDocument/2006/relationships/notesSlide" Target="/ppt/notesSlides/notesSlide8.xml" Id="R5b71aaa3362a43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df5a105034653" /><Relationship Type="http://schemas.openxmlformats.org/officeDocument/2006/relationships/notesSlide" Target="/ppt/notesSlides/notesSlide9.xml" Id="R4b677871cb5e4e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b186138fa479b" /><Relationship Type="http://schemas.openxmlformats.org/officeDocument/2006/relationships/notesSlide" Target="/ppt/notesSlides/notesSlide10.xml" Id="Rde8a355085b048d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b8a152dd204088" /><Relationship Type="http://schemas.openxmlformats.org/officeDocument/2006/relationships/notesSlide" Target="/ppt/notesSlides/notesSlide11.xml" Id="R31d28c17ff9541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7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EE19BA-36C2-4CA7-86C5-7D9806BC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52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BE899-A9CE-4840-B7AB-D0585C51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990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FAF7E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7EF"/>
                </a:solidFill>
                <a:latin typeface="Arial"/>
                <a:ea typeface="Arial"/>
                <a:cs typeface="Arial"/>
              </a:rPr>
              <a:t>MOTOR PAMPA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8D7FF-D20F-4AD9-B77A-77F7485D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574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OSINT DOCS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21274-8077-41AE-BA90-5C2322E8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A3CA4-942A-4FCC-A3BB-68B33D16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1ECE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1ECE0"/>
                </a:solidFill>
                <a:latin typeface="Arial"/>
                <a:ea typeface="Arial"/>
                <a:cs typeface="Arial"/>
              </a:rPr>
              <a:t>EVIDENCIA PÚBLICA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F1ECE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1ECE0"/>
                </a:solidFill>
                <a:latin typeface="Arial"/>
                <a:ea typeface="Arial"/>
                <a:cs typeface="Arial"/>
              </a:rPr>
              <a:t>MÉTODO VERIFICABLE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E3FBE-4C55-4A32-903F-8FCFDB65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800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E7E0C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0CD"/>
                </a:solidFill>
                <a:latin typeface="Arial"/>
                <a:ea typeface="Arial"/>
                <a:cs typeface="Arial"/>
              </a:rPr>
              <a:t>Documentos primarios, análisis propio y prueba técnica trazable.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92FF34-1C9C-479D-8E25-4E0D828C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3E8896-40A8-47AE-997F-F8CBCB45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AF7EF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FAF7EF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A468AD-F591-450B-984F-0288650E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AF7EF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FAF7EF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507560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1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D01350-6EF0-4165-A760-A0B34AA3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01 / PROBLEMA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E53F60-E3D6-4686-B412-76D72575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MUCHOS DOCUMENTOS. POCA TRAZABILIDAD.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71249-EA4F-48E4-A0CD-9F3E5B7F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F645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F6452"/>
                </a:solidFill>
                <a:latin typeface="Arial"/>
                <a:ea typeface="Arial"/>
                <a:cs typeface="Arial"/>
              </a:rPr>
              <a:t>La dificultad no es encontrar más información. Es convertir fuentes fragmentadas en una conclusión que otra persona pueda revisar.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FC2D00-CCE4-4848-88F8-68A2EF19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3528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0F6C4-407C-483F-BDE9-A771E874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DF2C28-139D-4118-862C-549CC102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VERSIONES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B9D548-636E-49C8-9D1F-11A08B3C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Copias, anexos y fechas que no coinciden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BDD2F2-9B91-415E-B374-B16378A3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105150"/>
            <a:ext cx="33528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308A1-27D8-441A-B013-5D98F6EA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89873A-9CF2-4164-9DEC-D2177052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671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AFIRMACIONES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71A21B-2FA6-4D1D-8AE5-B0421FA6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624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Hechos, deducciones e indicios mezclados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049AD0-7B56-4D4C-A943-ED5E4921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05150"/>
            <a:ext cx="33528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5719B-8031-4165-9B33-8DF6BD3C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956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62E200-1FE9-41A3-B89E-6C4EE765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671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DECISIÓN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5BA4A8-B707-46BB-947F-119E5D13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624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Conclusiones sin criterio de cierre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CF4954-13F9-415F-B189-C51A7A4F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E77A8E-45BD-403C-93C7-8014D636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B9C375-7057-4B61-9724-2458FB19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598089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70F492-D3BB-48AE-9529-B1AF6654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02 / PRODUCTO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33236-A897-4F1C-A7CA-82266572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UN PAQUETE DE EVIDENCIA, NO UNA CAJA NEGRA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D06696-E9F5-4D95-85A4-E207517D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71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387D4F-72B0-44C0-BFB2-B8F26187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805ABE-A97F-4545-B0BA-96086BA2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190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PREGUNTA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BB2E5-2374-4FAD-8B89-071D8D8E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13360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Decisión, alcance y condición de cierre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0CE754-67D2-4D23-9241-BC4B1BF6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37786-6E20-4999-9512-FF20598A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DD3F59-0749-4D32-95A1-B50E9348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86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FUENTES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6FD46B-AAB9-4554-9FDF-EADF3984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2895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Procedencia, fecha, versión e integridad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AA04A-CCC5-4A34-82F9-481E0C9E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8BDD20-1D15-4E2F-97B8-158EB7F9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A90BF7-751C-4108-BA55-7C80BFBB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814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AFIRMACIONES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53CAB-DC28-49E5-8448-22559677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2430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Grado de evidencia, alternativa y límite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4CF33F-CF45-44AF-80D7-7FD26308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2F1CB-3CA1-4C07-8176-D74D3CD8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DEC5CE-59C0-4A70-8F42-2F580D00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876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ENTREGA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4F2C54-4078-44AC-AA72-5C525A2F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1965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Informe, matriz, anexos y próximos pasos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0D0CFF-9250-409C-AA18-E7785ECB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71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E6507E-B725-44D7-97FF-136F1E58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C74E4D-788B-46A1-ABAC-FB8312FD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4457A6-0E6D-4F00-A1EC-C504E757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91712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1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F28BC7-1160-4C70-B64E-975E79A8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03 / MÉTODO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AEAC1-E9F6-43AD-AD6D-E80306DD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CINCO ETAPAS CON REVISIÓN ADVERSARIAL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DB5213-8776-464C-A9D5-4DDB5B42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9621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0F1D46-C4A0-4D11-B3A4-768E7815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38819-E519-458D-887C-2D7F1D24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1638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ENCUADRE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EC055E-3417-41E6-92B8-5F61CEDC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1638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Qué decisión debe informar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769AE5-1698-4E07-98E9-84ACCC32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324100"/>
            <a:ext cx="19621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8E7DA-1455-4352-AA63-88C4673D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146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0133F-EF8F-4A98-BC3B-B4D37FA9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00400"/>
            <a:ext cx="1638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ADQUISICIÓN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68C00-F173-4E1A-A441-54303EF9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1638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Qué fuente entra y por qué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3D7CC6-FB22-4580-9BAB-B0C5B0DE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19621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8DA007-1508-43FD-9BE7-C028398D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146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1B15F3-39D2-4551-A72B-42F893DB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00400"/>
            <a:ext cx="1638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NORMALIZACIÓN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2A7CA7-7181-4B27-99EC-D881D83D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10000"/>
            <a:ext cx="1638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Qué regla transforma el dato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1FDA8B-17FE-41DB-B0CE-4CA7F46E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24100"/>
            <a:ext cx="19621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A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6ACA83-A821-4AB2-B1B3-5AA0E4C9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146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7FFFCD-8EB2-4A70-AB9C-F122E974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00400"/>
            <a:ext cx="1638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PRUEBA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1934E9-28EF-48AB-B347-B9E00A63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10000"/>
            <a:ext cx="1638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Qué alternativa compite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C0EFDB-63D1-4DDB-8349-DB76F661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19621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0FD2E-49F3-45DA-9D29-1F54773B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5146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01DD88-6AB7-4878-81CB-2E914C61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00400"/>
            <a:ext cx="1638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ENTREGA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37BF4C-41E1-4EEC-BA79-169851D0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10000"/>
            <a:ext cx="1638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Qué puede sostenerse hoy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FEBCF7-C786-408C-84F1-B510DE04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REVISIÓN ADVERSARIAL EN TODAS LAS ETAPAS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86E51B-B72A-4176-88E5-E71E0C18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45E0E9-1EDA-4FEE-AB11-EB2559D5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26C2F8-0716-4ED7-B4E3-2BAB7AB2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673466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38A41A-7FB0-4CC8-AAC0-99EFFEF5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04 / ESTÁNDAR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B35CCE-DF65-4A53-81B5-79C2BA95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LA FUERZA PERTENECE A CADA AFIRMACIÓN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2872C-EC5E-4FFF-95AA-6AAC33C1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9525">
            <a:solidFill>
              <a:srgbClr val="A7A99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198EA-30AC-4CFA-889D-614C5935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[A]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AD2832-6C85-4272-A2BE-E11E7BB8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2764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5171B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15171B"/>
                </a:solidFill>
                <a:latin typeface="Courier New"/>
                <a:ea typeface="Courier New"/>
                <a:cs typeface="Courier New"/>
              </a:rPr>
              <a:t>PROBADO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696D23-63DB-486B-B02C-872207FB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57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645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452"/>
                </a:solidFill>
                <a:latin typeface="Arial"/>
                <a:ea typeface="Arial"/>
                <a:cs typeface="Arial"/>
              </a:rPr>
              <a:t>Publicable como hecho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04D3F4-C902-4137-BEB3-D9E1196D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9525">
            <a:solidFill>
              <a:srgbClr val="A7A99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0BA038-0CC8-4B78-84F7-1F6C80AA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[B]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BD8BD2-52E4-4E67-A277-CC051984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1337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5171B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15171B"/>
                </a:solidFill>
                <a:latin typeface="Courier New"/>
                <a:ea typeface="Courier New"/>
                <a:cs typeface="Courier New"/>
              </a:rPr>
              <a:t>DEDUCCIÓN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CA1775-8075-4B07-B9B1-31495D62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1467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645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452"/>
                </a:solidFill>
                <a:latin typeface="Arial"/>
                <a:ea typeface="Arial"/>
                <a:cs typeface="Arial"/>
              </a:rPr>
              <a:t>Inferencia con alternativa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31A20E-9F02-485A-B390-9C03B99D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9525">
            <a:solidFill>
              <a:srgbClr val="A7A99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3036A3-9395-46C3-862A-1AE12B92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814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F251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>
                <a:solidFill>
                  <a:srgbClr val="8F2519"/>
                </a:solidFill>
                <a:latin typeface="Courier New"/>
                <a:ea typeface="Courier New"/>
                <a:cs typeface="Courier New"/>
              </a:rPr>
              <a:t>[C]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8E0E2A-EEBC-4B35-B687-AB3BC70A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909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5171B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15171B"/>
                </a:solidFill>
                <a:latin typeface="Courier New"/>
                <a:ea typeface="Courier New"/>
                <a:cs typeface="Courier New"/>
              </a:rPr>
              <a:t>INDICIO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6F0E72-5726-44B6-B283-DD502B69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9719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645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452"/>
                </a:solidFill>
                <a:latin typeface="Arial"/>
                <a:ea typeface="Arial"/>
                <a:cs typeface="Arial"/>
              </a:rPr>
              <a:t>No publicar como hecho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CFA672-7DBA-48DC-93E7-83E389D6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9525">
            <a:solidFill>
              <a:srgbClr val="A7A99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3F2F83-7936-4873-9E12-70038E4B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5171B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>
                <a:solidFill>
                  <a:srgbClr val="15171B"/>
                </a:solidFill>
                <a:latin typeface="Courier New"/>
                <a:ea typeface="Courier New"/>
                <a:cs typeface="Courier New"/>
              </a:rPr>
              <a:t>[NEG]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2304DD-5E22-47EE-896D-CE8D57C9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8482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5171B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15171B"/>
                </a:solidFill>
                <a:latin typeface="Courier New"/>
                <a:ea typeface="Courier New"/>
                <a:cs typeface="Courier New"/>
              </a:rPr>
              <a:t>BÚSQUEDA NEGATIVA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9573C9-6DCB-4516-99D2-68978B5C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2917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645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452"/>
                </a:solidFill>
                <a:latin typeface="Arial"/>
                <a:ea typeface="Arial"/>
                <a:cs typeface="Arial"/>
              </a:rPr>
              <a:t>No demuestra inexistencia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B31E8-81EA-4511-BBB6-01F7C375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B04DE7-574B-4205-B0E2-C35A05D3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E28278-E4F1-4118-A89D-94AD44AC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32833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1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D83C02-8F28-4003-A2B7-B222A396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05 / CASO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57DAAA-3F49-412B-867D-391E6355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SUICIDIOS: SERIE, CÁLCULOS PROPIOS Y CUATRO SISTEMAS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548926-8CEC-4EC0-BB33-23AC45AC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238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71B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42AF1D-5879-4565-97B0-C3D210D7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FAF7E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AF7EF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0EA757-E624-45DB-8684-68ABD2DF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38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ORIGINALES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FD9BFE-C1F4-4793-8C81-B0CBC1B5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FAF7E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AF7EF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F14606-4934-4B02-9553-684CABF3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29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TABLAS DERIVADAS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10359-BCD7-46CB-B6CA-7A05930F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5265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81F8C3-E84B-4DDE-8E85-5E48614E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3360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Serie 2005–2024 y definiciones de caso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02079-B25E-46D4-913D-A79A0990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47950"/>
            <a:ext cx="6781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6C2A93-ED7B-48FC-B2AE-BA4C0F00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956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024BC3-ED0D-43BF-B7C3-72E71432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8765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Tasas, cambios y sensibilidad de clasificación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4F1D3E-BE30-4042-8F27-4CCBF6EF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90900"/>
            <a:ext cx="6781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89DF30-492B-4754-B807-D6920B06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3855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81B54-F567-4287-B5E3-5A1F4DCC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61950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Contraste DEIS, SNIC, SNVS y 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64A351-C6D5-49B2-9D22-7F2687D1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33850"/>
            <a:ext cx="6781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479A2C-BD40-4191-B123-3F71CA3D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815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DEC2A7-74B3-4122-84C2-7453B2C0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624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Revisión ética específica para suicidio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906E10-A702-4E9F-B067-C5032998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876800"/>
            <a:ext cx="6781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BDF8EA-3A7F-4345-B17C-8E6795B9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276850"/>
            <a:ext cx="678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RESULTADO / NÚMEROS PROPIOS Y CRÍTICA METODOLÓGICA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11CD26-9C90-4946-AA3D-B6E300CE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F58B58-E441-4718-B9FB-A501C601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598B5E-AF7C-4CE1-A214-052686FE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571750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0FD74E-AA10-4509-92EC-6FE8E4AF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06 / CASO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2363BB-3F3C-403D-A564-97CE50BE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CANNAVA: CONTRATOS PRIMARIOS Y DOS RUTAS DE DERECHOS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3C3EDB-7D8F-473C-A9DF-9EAB7260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3352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71E23-458E-4C2F-B3DC-1AE54737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23A5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23A5C"/>
                </a:solidFill>
                <a:latin typeface="Arial"/>
                <a:ea typeface="Arial"/>
                <a:cs typeface="Arial"/>
              </a:rPr>
              <a:t>193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899716-E0D7-4418-9DB4-F41E00E4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ARCHIVOS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9A166-3F06-47B8-B864-F3A56E72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52650"/>
            <a:ext cx="3352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A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0EB92-75EF-4FC2-BFB4-3D0604F9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81250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23A5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23A5C"/>
                </a:solidFill>
                <a:latin typeface="Arial"/>
                <a:ea typeface="Arial"/>
                <a:cs typeface="Arial"/>
              </a:rPr>
              <a:t>128 MB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6C425A-247E-4048-9801-2D2CB683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43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CORPUS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B05E55-7FBD-4CF2-85EF-4E127C7F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352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23ED46-0138-4EAD-B8A0-E53E28E9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81250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23A5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23A5C"/>
                </a:solidFill>
                <a:latin typeface="Arial"/>
                <a:ea typeface="Arial"/>
                <a:cs typeface="Arial"/>
              </a:rPr>
              <a:t>192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66C08-27DE-4B8E-A23B-39677E1C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HASHES CUBIERTOS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DD002-5E1D-483A-921D-B1EA3430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CONTRATOS SEC/CSE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F5D0A7-E376-40DF-A86E-579437E4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2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MAPA SOCIETARIO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9C01BB-83B8-431E-A832-51787B64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29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CRONOLOGÍA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B57940-05F9-46C7-ACDB-0F4F1362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291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VACÍOS DOCUMENTADOS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56231-3685-48BF-80BD-1591833E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71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12B400-A66E-421F-8488-5FD43A78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6F645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F6452"/>
                </a:solidFill>
                <a:latin typeface="Arial"/>
                <a:ea typeface="Arial"/>
                <a:cs typeface="Arial"/>
              </a:rPr>
              <a:t>La cadena societaria no reemplaza el instrumento de cesión faltante.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C32C52-7915-4FDC-92E4-21B678D5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95174F-187A-4D78-A062-825AE0D0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080641-9D77-49D3-AD79-4BDDD980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759681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1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869BE9-A50B-4F10-B7FC-343357FC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07 / CASO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41873-3C5F-4402-A882-3AC8288D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OBSERVATORIO SECTORIAL: AUDITORÍA DEL DOSSIER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7C16FC-EF58-4F88-A080-5B43E186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25146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379DC-C99C-4D6D-956C-48799FF6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2514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A5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8CB4C-AC26-460C-80B7-3CCE3F35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FFC4A8-5364-4047-9840-58EF38AA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PROXY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1CF1D5-4C13-418B-AE10-B026E681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2114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360 reclamos eran un proxy institucional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3B370E-B749-4880-8FD4-421ACB81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47900"/>
            <a:ext cx="25146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AEF0E-5B52-43BB-BA0A-70E562C7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47900"/>
            <a:ext cx="2514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A5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31F65-2543-49DA-9B1B-2E8064BD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908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67D693-C67D-4E01-8D10-4B40413A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76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A67F49-F9A9-4384-93A6-191C53FD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67150"/>
            <a:ext cx="2114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140 de 281 objetos recuperados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62F9DA-1EE8-449C-AE09-3543AE78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25146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D59D02-C8C5-4EA0-8131-C8E67EF0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2514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52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8C37EA-9BCF-4162-A612-86A65630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908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ED2AD2-DE88-472B-82E1-A7ACEFF3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76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CÓDIGO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807E02-161D-46C6-BA64-23AB62AB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67150"/>
            <a:ext cx="2114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Una cifra presupuestaria era simulada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A256AA-FA3D-4E2E-9E3B-01635BAA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47900"/>
            <a:ext cx="25146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88C024-A38E-486F-B0D3-208633F3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47900"/>
            <a:ext cx="2514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A5C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51C4F7-4DE4-4786-AC3F-3DAFB91B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5908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247E8B-C796-4AA7-98A5-75AF7344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76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CORRECCIÓN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F1ED51-88D9-4935-B335-BCB0EB4F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67150"/>
            <a:ext cx="2114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Secuencia normativa corregida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0B1242-DACD-461D-8692-84562991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EL INFORME CAMBIÓ AL VOLVER A LAS FUENTES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491705-DA2C-4AA3-BA48-FC76D671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BEE06B-EDD7-4FA9-8314-9D9A5CBB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D4B000-2150-4B8F-BE95-C800D872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549502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325FB7-7160-43D9-AF14-72A187E0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08 / SERVICIOS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B6316-A584-4F4E-9309-A00A7B0E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PILOTOS Y PROYECTOS A MEDIDA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C9C934-EDD3-473D-B6AF-C9C2BF7B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816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A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9E744-6F38-4928-8FA1-40A05D9D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01B596-F809-4C54-96E3-5EFD6573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324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EVIDENCE SPRINT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E7A54E-836F-407D-B495-547F58C2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003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Qué puede sostenerse hoy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ED484-0869-47B8-9072-9EA6D7D3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33600"/>
            <a:ext cx="51816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CDB3C5-BB7A-464F-865A-B06D9239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05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25DBA-91A6-4784-9D03-0154C64B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324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DATA ROOM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9B455F-E4C5-4E85-84F9-D4CCAAA2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8003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Dónde está cada respaldo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B3715A-111F-417A-85B4-EBD11FF6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1816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DA0DEB-D8EE-4709-8588-DDA66687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C519A5-AE5F-4E1A-AAA4-34861D10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005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OBSERVATORIO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75AB37-4EA0-40CA-8DCD-DA30131A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767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Qué cambió y qué importa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86F712-CDC6-4A5C-AFB0-C2422124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51816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5F08C9-DCD3-4B72-A6C6-CBE30DD6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81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830560-24DD-4C01-99FE-29CB3873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005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AUDITORÍA DE DATOS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414AB3-1D07-4C4C-97AC-A103C541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767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171B"/>
                </a:solidFill>
                <a:latin typeface="Arial"/>
                <a:ea typeface="Arial"/>
                <a:cs typeface="Arial"/>
              </a:rPr>
              <a:t>La base es consistente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DBC56A-AF31-4017-B2F1-B3BE4682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6CFE7-BB68-43EF-9984-8D09ED5E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21D0D8-3837-4CAE-AAA7-5D87A7B0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09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EE8C08-7CD3-4227-89FA-CB15A701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B8342B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B8342B"/>
                </a:solidFill>
                <a:latin typeface="Courier New"/>
                <a:ea typeface="Courier New"/>
                <a:cs typeface="Courier New"/>
              </a:rPr>
              <a:t>A MEDIDA: AUDITORÍA DE INFORMES Y ANÁLISIS TÉCNICO-PROBATORIO</a:t>
            </a:r>
          </a:p>
        </p:txBody>
      </p:sp>
    </p:spTree>
    <p:extLst>
      <p:ext uri="{BB962C8B-B14F-4D97-AF65-F5344CB8AC3E}">
        <p14:creationId xmlns:p14="http://schemas.microsoft.com/office/powerpoint/2010/main" val="8100540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1EC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07CB85-F04C-4F3F-96F0-CDCC7202A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09 / MERCADO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A54B39-5839-4B5F-943D-24B487C0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DIEZ PRIMERAS RUTAS, CUATRO MODOS DE ENTRADA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A0E9F-AA70-49EC-AA38-704509CE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25146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C7A01B-A37B-465A-A63A-6D376160E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2514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3A5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CBEB9-DD5F-4A6E-BC1F-DC6A752C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2152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223A5C"/>
                </a:solidFill>
                <a:latin typeface="Courier New"/>
                <a:ea typeface="Courier New"/>
                <a:cs typeface="Courier New"/>
              </a:rPr>
              <a:t>COMPRA Y ALIANZA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89B93-9903-4BCE-BA2C-9ABE4CEA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21526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IECS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Provincia de Buenos Aires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325DB9-3314-4E9D-B16D-40EDEF13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71700"/>
            <a:ext cx="25146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4A6B39-E0D2-48AA-BB33-AE4998D5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71700"/>
            <a:ext cx="2514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52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ACA77A-9CAF-4902-B246-BCAB6AB4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2152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SUBCONTRATACIÓN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50BD1-0F67-4165-805A-7E4078B1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33750"/>
            <a:ext cx="21526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Marval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Bruchou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Kroll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2937B5-CB22-412E-9F0D-68205209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25146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71F416-9757-44AF-881C-283F4732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2514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0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6F2114-3002-4322-82AC-7FEDD866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71750"/>
            <a:ext cx="2152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2840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152840"/>
                </a:solidFill>
                <a:latin typeface="Courier New"/>
                <a:ea typeface="Courier New"/>
                <a:cs typeface="Courier New"/>
              </a:rPr>
              <a:t>PROCUREMENT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57CFE5-E58B-45E9-A6F5-97414878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21526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OPS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PNUD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BID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4DA5AA-F036-42B1-B209-6709485D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71700"/>
            <a:ext cx="25146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EF"/>
          </a:solidFill>
          <a:ln xmlns:a="http://schemas.openxmlformats.org/drawingml/2006/main" w="9525">
            <a:solidFill>
              <a:srgbClr val="15171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1C3454-06BF-4CDB-B0CF-13F4012A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71700"/>
            <a:ext cx="2514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251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227AD-94E3-4E50-AEDA-56BCE271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571750"/>
            <a:ext cx="2152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2519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8F2519"/>
                </a:solidFill>
                <a:latin typeface="Courier New"/>
                <a:ea typeface="Courier New"/>
                <a:cs typeface="Courier New"/>
              </a:rPr>
              <a:t>PUBLICACIÓN Y GRANT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688967-C89D-4AAC-B2C4-F622666A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33750"/>
            <a:ext cx="21526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CLIP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1517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171B"/>
                </a:solidFill>
                <a:latin typeface="Arial"/>
                <a:ea typeface="Arial"/>
                <a:cs typeface="Arial"/>
              </a:rPr>
              <a:t>Pulitzer Center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47A6E6-CEF9-4061-B277-6F65E25B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NO CONFUNDIR INTERÉS CON PRESUPUESTO. CADA RUTA TIENE UN PROCESO DISTINTO.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5706F4-2E2A-47DE-93A9-F70D0F420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0D9BCB-A29B-4DB7-ACF4-38240C39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009CA3-DA77-43CC-B5EC-BC9D8EB6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6F6452"/>
                </a:solidFill>
                <a:latin typeface="Courier New"/>
                <a:ea typeface="Courier New"/>
                <a:cs typeface="Courier New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993504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517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D2B43-F769-482C-8DD0-5108CE7E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10 / SIGUIENTE PASO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D23A1C-E458-46FF-B56F-E1F44951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AF7E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AF7EF"/>
                </a:solidFill>
                <a:latin typeface="Arial"/>
                <a:ea typeface="Arial"/>
                <a:cs typeface="Arial"/>
              </a:rPr>
              <a:t>EMPEZAR CON UN PILOTO CERRADO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321394-3910-4303-81DC-C7D16F9E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3AF16-0304-4821-A261-BFF809A5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F077D-AAF2-4897-A15F-381498CB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7650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1EC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1ECE0"/>
                </a:solidFill>
                <a:latin typeface="Courier New"/>
                <a:ea typeface="Courier New"/>
                <a:cs typeface="Courier New"/>
              </a:rPr>
              <a:t>UNA PREGUNTA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ABAE6-559D-4E55-92C8-D6B69F29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D6E1A1-4E93-446F-AC16-AE416118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9090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1EC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1ECE0"/>
                </a:solidFill>
                <a:latin typeface="Courier New"/>
                <a:ea typeface="Courier New"/>
                <a:cs typeface="Courier New"/>
              </a:rPr>
              <a:t>UN UNIVERSO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E54AB-6F7D-466B-8D72-2227B49C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135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1352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A72CC-3D8E-447F-B2C0-80BC0875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0530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1EC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1ECE0"/>
                </a:solidFill>
                <a:latin typeface="Courier New"/>
                <a:ea typeface="Courier New"/>
                <a:cs typeface="Courier New"/>
              </a:rPr>
              <a:t>UN CRITERIO DE ACEPTACIÓN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B3188A-6B10-4B44-9681-90A8EABA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AF7EF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FAF7EF"/>
                </a:solidFill>
                <a:latin typeface="Courier New"/>
                <a:ea typeface="Courier New"/>
                <a:cs typeface="Courier New"/>
              </a:rPr>
              <a:t>github.com/pat031-prog/motor-pampa-research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6F8F75-6555-459C-B83C-979FFFB2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1352A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C1352A"/>
                </a:solidFill>
                <a:latin typeface="Courier New"/>
                <a:ea typeface="Courier New"/>
                <a:cs typeface="Courier New"/>
              </a:rPr>
              <a:t>NO ENVIAR MATERIAL SENSIBLE POR 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DD749-DEDA-435E-9492-DE7F8B1F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99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0E52E4-77EF-4B04-946A-104648EA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AF7EF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FAF7EF"/>
                </a:solidFill>
                <a:latin typeface="Courier New"/>
                <a:ea typeface="Courier New"/>
                <a:cs typeface="Courier New"/>
              </a:rPr>
              <a:t>MOTOR PAMPA / OSINT DOCS / PUBLIC PORTFOLIO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CB0B82-D9EA-4FC0-9472-DD7C11B1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15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AF7EF"/>
                </a:solidFill>
                <a:latin typeface="Courier New"/>
                <a:ea typeface="Courier New"/>
                <a:cs typeface="Courier New"/>
              </a:defRPr>
            </a:pPr>
            <a:r>
              <a:rPr sz="750" b="1">
                <a:solidFill>
                  <a:srgbClr val="FAF7EF"/>
                </a:solidFill>
                <a:latin typeface="Courier New"/>
                <a:ea typeface="Courier New"/>
                <a:cs typeface="Courier New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915343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2026-09-24T03:13:46.8690000Z</dcterms:created>
  <dcterms:modified xsi:type="dcterms:W3CDTF">2026-09-24T03:13:46.8690000Z</dcterms:modified>
</coreProperties>
</file>